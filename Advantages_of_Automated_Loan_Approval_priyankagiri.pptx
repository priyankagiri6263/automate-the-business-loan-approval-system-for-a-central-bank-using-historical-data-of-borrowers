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A3570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5FB3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 ·  LOAN AUTOMATION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an Automated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System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historical judgment to a rule the data can prove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Priyanka Giri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53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 Historical Borrower Dataset  ·  PostgreSQL Analysis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loan review doesn't scale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a human underwriter reads by hand is slower, costlier, and less consistent than one scored by a proven rule.
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isn't whether to automate loan decisions — it's which signals deserve to drive that decision.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812280" y="2148840"/>
            <a:ext cx="822960" cy="82296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7" name="Image 0" descr="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331" y="23298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0" y="3154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14–21 days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3794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manual SBA underwriting time, industry-wide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BF1E1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5166360"/>
            <a:ext cx="777240" cy="777240"/>
          </a:xfrm>
          <a:prstGeom prst="ellipse">
            <a:avLst/>
          </a:prstGeom>
          <a:solidFill>
            <a:srgbClr val="D4A657"/>
          </a:solidFill>
          <a:ln/>
        </p:spPr>
      </p:sp>
      <p:pic>
        <p:nvPicPr>
          <p:cNvPr id="12" name="Image 1" descr="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3" y="533735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512064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let 899,164 historical loan records show which signals genuinely predict repayment — then automate the rule they reveal.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chosen from both data and industry practice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6432" cy="3749040"/>
          </a:xfrm>
          <a:prstGeom prst="roundRect">
            <a:avLst>
              <a:gd name="adj" fmla="val 2646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956816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867" y="23298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089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months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3090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75488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gap between short- and long-term loans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2544" y="1874520"/>
            <a:ext cx="3456432" cy="3749040"/>
          </a:xfrm>
          <a:prstGeom prst="roundRect">
            <a:avLst>
              <a:gd name="adj" fmla="val 2646"/>
            </a:avLst>
          </a:prstGeom>
          <a:solidFill>
            <a:srgbClr val="E4F3F0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13" name="Image 1" descr="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31" y="232989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35424" y="31089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Level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35424" y="35661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documentation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35424" y="4023360"/>
            <a:ext cx="3090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F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4672584" y="475488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gap — signals the loan was pre-qualified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5008" y="1874520"/>
            <a:ext cx="3456432" cy="3749040"/>
          </a:xfrm>
          <a:prstGeom prst="roundRect">
            <a:avLst>
              <a:gd name="adj" fmla="val 2646"/>
            </a:avLst>
          </a:prstGeom>
          <a:solidFill>
            <a:srgbClr val="FBEAE4"/>
          </a:solidFill>
          <a:ln/>
        </p:spPr>
      </p:sp>
      <p:sp>
        <p:nvSpPr>
          <p:cNvPr id="19" name="Shape 15"/>
          <p:cNvSpPr/>
          <p:nvPr/>
        </p:nvSpPr>
        <p:spPr>
          <a:xfrm>
            <a:off x="9381744" y="2148840"/>
            <a:ext cx="822960" cy="822960"/>
          </a:xfrm>
          <a:prstGeom prst="ellipse">
            <a:avLst/>
          </a:prstGeom>
          <a:solidFill>
            <a:srgbClr val="E8927C"/>
          </a:solidFill>
          <a:ln/>
        </p:spPr>
      </p:sp>
      <p:pic>
        <p:nvPicPr>
          <p:cNvPr id="20" name="Image 2" descr="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795" y="232989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47888" y="310896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Credit Line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35661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on file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247888" y="4023360"/>
            <a:ext cx="3090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9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1.7×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8385048" y="475488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gap — reliance on credit signals cash-flow stress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8521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2960" y="5852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Approve if at least 2 of these 3 conditions are true. Otherwise → Manual Review.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Query Powers Automation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decision rule collapses into one SQL statement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16204E"/>
          </a:solidFill>
          <a:ln w="12700">
            <a:solidFill>
              <a:srgbClr val="33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sba_loans_raw SET loan_eligibility = CASE WHEN (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(CASE WHEN term &gt;= 60 THEN 1 ELSE 0 END) +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(CASE WHEN lowdoc = 'Y' THEN 1 ELSE 0 END) +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(CASE WHEN revlinecr = 'N' THEN 1 ELSE 0 END)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&gt;= 2 THEN 'Approved' ELSE 'Declined' END;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2542032" cy="2103120"/>
          </a:xfrm>
          <a:prstGeom prst="roundRect">
            <a:avLst>
              <a:gd name="adj" fmla="val 4348"/>
            </a:avLst>
          </a:prstGeom>
          <a:solidFill>
            <a:srgbClr val="2A3570"/>
          </a:solidFill>
          <a:ln/>
        </p:spPr>
      </p:sp>
      <p:sp>
        <p:nvSpPr>
          <p:cNvPr id="7" name="Shape 5"/>
          <p:cNvSpPr/>
          <p:nvPr/>
        </p:nvSpPr>
        <p:spPr>
          <a:xfrm>
            <a:off x="1591056" y="4251960"/>
            <a:ext cx="640080" cy="64008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8" name="Image 0" descr="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439277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502920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94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all 899,164 loans in 17 seconds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4023360"/>
            <a:ext cx="2542032" cy="2103120"/>
          </a:xfrm>
          <a:prstGeom prst="roundRect">
            <a:avLst>
              <a:gd name="adj" fmla="val 4348"/>
            </a:avLst>
          </a:prstGeom>
          <a:solidFill>
            <a:srgbClr val="2A3570"/>
          </a:solidFill>
          <a:ln/>
        </p:spPr>
      </p:sp>
      <p:sp>
        <p:nvSpPr>
          <p:cNvPr id="12" name="Shape 9"/>
          <p:cNvSpPr/>
          <p:nvPr/>
        </p:nvSpPr>
        <p:spPr>
          <a:xfrm>
            <a:off x="4334256" y="4251960"/>
            <a:ext cx="640080" cy="64008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13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74" y="43927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502920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5394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always yield the same decision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4023360"/>
            <a:ext cx="2542032" cy="2103120"/>
          </a:xfrm>
          <a:prstGeom prst="roundRect">
            <a:avLst>
              <a:gd name="adj" fmla="val 4348"/>
            </a:avLst>
          </a:prstGeom>
          <a:solidFill>
            <a:srgbClr val="2A3570"/>
          </a:solidFill>
          <a:ln/>
        </p:spPr>
      </p:sp>
      <p:sp>
        <p:nvSpPr>
          <p:cNvPr id="17" name="Shape 13"/>
          <p:cNvSpPr/>
          <p:nvPr/>
        </p:nvSpPr>
        <p:spPr>
          <a:xfrm>
            <a:off x="7077456" y="4251960"/>
            <a:ext cx="640080" cy="64008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18" name="Image 2" descr="icon_exp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74" y="439277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502920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5394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at 10 or 10 million loans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869680" y="4023360"/>
            <a:ext cx="2542032" cy="2103120"/>
          </a:xfrm>
          <a:prstGeom prst="roundRect">
            <a:avLst>
              <a:gd name="adj" fmla="val 4348"/>
            </a:avLst>
          </a:prstGeom>
          <a:solidFill>
            <a:srgbClr val="2A3570"/>
          </a:solidFill>
          <a:ln/>
        </p:spPr>
      </p:sp>
      <p:sp>
        <p:nvSpPr>
          <p:cNvPr id="22" name="Shape 17"/>
          <p:cNvSpPr/>
          <p:nvPr/>
        </p:nvSpPr>
        <p:spPr>
          <a:xfrm>
            <a:off x="9820656" y="4251960"/>
            <a:ext cx="640080" cy="64008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23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474" y="4392778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06840" y="502920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052560" y="53949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is visible, traceable, explainable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Over Manual Decision-Making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5681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44752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waiting become a near-instant response.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52544" y="11887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E4F3F0"/>
          </a:solidFill>
          <a:ln/>
        </p:spPr>
      </p:sp>
      <p:sp>
        <p:nvSpPr>
          <p:cNvPr id="9" name="Shape 6"/>
          <p:cNvSpPr/>
          <p:nvPr/>
        </p:nvSpPr>
        <p:spPr>
          <a:xfrm>
            <a:off x="4581144" y="1417320"/>
            <a:ext cx="685800" cy="68580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10" name="Image 1" descr="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5681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04104" y="1444752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81144" y="22402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applies identically, every time.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65008" y="118872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BEAE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93608" y="1417320"/>
            <a:ext cx="685800" cy="685800"/>
          </a:xfrm>
          <a:prstGeom prst="ellipse">
            <a:avLst/>
          </a:prstGeom>
          <a:solidFill>
            <a:srgbClr val="E8927C"/>
          </a:solidFill>
          <a:ln/>
        </p:spPr>
      </p:sp>
      <p:pic>
        <p:nvPicPr>
          <p:cNvPr id="15" name="Image 2" descr="icon_exp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15681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16568" y="1444752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24028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900,000 loans handled as easily as 900.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59359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BF1E1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3822192"/>
            <a:ext cx="685800" cy="685800"/>
          </a:xfrm>
          <a:prstGeom prst="ellipse">
            <a:avLst/>
          </a:prstGeom>
          <a:solidFill>
            <a:srgbClr val="D4A657"/>
          </a:solidFill>
          <a:ln/>
        </p:spPr>
      </p:sp>
      <p:pic>
        <p:nvPicPr>
          <p:cNvPr id="20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39730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3849624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645152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traces back to a documented rule.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52544" y="359359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581144" y="382219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397306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04104" y="3849624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Bias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81144" y="4645152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loan-structure signals drive the outcome.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065008" y="359359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E4F3F0"/>
          </a:solidFill>
          <a:ln/>
        </p:spPr>
      </p:sp>
      <p:sp>
        <p:nvSpPr>
          <p:cNvPr id="29" name="Shape 22"/>
          <p:cNvSpPr/>
          <p:nvPr/>
        </p:nvSpPr>
        <p:spPr>
          <a:xfrm>
            <a:off x="8293608" y="3822192"/>
            <a:ext cx="685800" cy="68580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30" name="Image 5" descr="icon_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397306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16568" y="3849624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4645152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re-run costs effectively nothing.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Evidence: Speed at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reach a loan decision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SBA Underwriting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typical)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0" y="1993392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E892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06240" y="19933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14–21 days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Underwriting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benchmark)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3044952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D4A6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06240" y="30449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Automated SQL Rule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15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(899,164 loans, one query)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4096512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5FB3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06240" y="4096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seconds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852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single underwriter reviewed these 899,164 loans one at a time at the industry pace, the backlog would stretch into decades. Our query finished before this sentence loaded.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the Rule Actually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real historical loan outcomes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E4F3F0"/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2148840"/>
            <a:ext cx="914400" cy="914400"/>
          </a:xfrm>
          <a:prstGeom prst="ellipse">
            <a:avLst/>
          </a:prstGeom>
          <a:solidFill>
            <a:srgbClr val="5FB3A3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7208" y="2350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5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204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default rate  ·  411,096 loans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BEAE4"/>
          </a:solidFill>
          <a:ln/>
        </p:spPr>
      </p:sp>
      <p:sp>
        <p:nvSpPr>
          <p:cNvPr id="11" name="Shape 8"/>
          <p:cNvSpPr/>
          <p:nvPr/>
        </p:nvSpPr>
        <p:spPr>
          <a:xfrm>
            <a:off x="8275320" y="2148840"/>
            <a:ext cx="914400" cy="914400"/>
          </a:xfrm>
          <a:prstGeom prst="ellipse">
            <a:avLst/>
          </a:prstGeom>
          <a:solidFill>
            <a:srgbClr val="E8927C"/>
          </a:solidFill>
          <a:ln/>
        </p:spPr>
      </p:sp>
      <p:pic>
        <p:nvPicPr>
          <p:cNvPr id="12" name="Image 1" descr="icon_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23500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0936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89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35204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25.5%</a:t>
            </a:r>
            <a:endParaRPr lang="en-US" sz="48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default rate  ·  486,071 loans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cohort defaults at less than a third the rate of the Declined cohort — strong evidence the automated rule separates risk effectively.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A35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approval doesn't replace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judgment — it encodes it.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 be applied instantly, consistently, and at any scale — turning a decision measured in weeks into one measured in milliseconds, without sacrificing accuracy.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needs a human: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09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cases near the threshold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re-validation as conditions shift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audits on the rule itself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LOAN RISK  ·  CENTRAL BANK AUTOMATION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2026-10-02T10:19:17Z</dcterms:created>
  <dcterms:modified xsi:type="dcterms:W3CDTF">2026-10-02T10:19:17Z</dcterms:modified>
</cp:coreProperties>
</file>